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3bda862604381" /><Relationship Type="http://schemas.openxmlformats.org/officeDocument/2006/relationships/extended-properties" Target="/docProps/app.xml" Id="Rc6fa9e9ffbb04f1a" /><Relationship Type="http://schemas.openxmlformats.org/officeDocument/2006/relationships/officeDocument" Target="/ppt/presentation.xml" Id="R6eb8154d4d5f45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f06a311e2f4640"/>
  </p:sldMasterIdLst>
  <p:notesMasterIdLst>
    <p:notesMasterId xmlns:r="http://schemas.openxmlformats.org/officeDocument/2006/relationships" r:id="R4a7bf78920084666"/>
  </p:notesMasterIdLst>
  <p:sldIdLst>
    <p:sldId xmlns:r="http://schemas.openxmlformats.org/officeDocument/2006/relationships" id="256" r:id="R2e3ada01785743dc"/>
    <p:sldId xmlns:r="http://schemas.openxmlformats.org/officeDocument/2006/relationships" id="257" r:id="R2dd9aa5a891e48c1"/>
    <p:sldId xmlns:r="http://schemas.openxmlformats.org/officeDocument/2006/relationships" id="258" r:id="R5e5629f47e074fc5"/>
    <p:sldId xmlns:r="http://schemas.openxmlformats.org/officeDocument/2006/relationships" id="259" r:id="R7e08da9281224dcc"/>
    <p:sldId xmlns:r="http://schemas.openxmlformats.org/officeDocument/2006/relationships" id="260" r:id="R400cdc0740494a19"/>
    <p:sldId xmlns:r="http://schemas.openxmlformats.org/officeDocument/2006/relationships" id="261" r:id="Raeff7473b0e340b7"/>
    <p:sldId xmlns:r="http://schemas.openxmlformats.org/officeDocument/2006/relationships" id="262" r:id="R775cb94d93c64d4f"/>
    <p:sldId xmlns:r="http://schemas.openxmlformats.org/officeDocument/2006/relationships" id="263" r:id="Rf6cfd2df082c47d5"/>
    <p:sldId xmlns:r="http://schemas.openxmlformats.org/officeDocument/2006/relationships" id="264" r:id="R6670bbe83fc1496d"/>
    <p:sldId xmlns:r="http://schemas.openxmlformats.org/officeDocument/2006/relationships" id="265" r:id="R1f7aaa6e02684322"/>
    <p:sldId xmlns:r="http://schemas.openxmlformats.org/officeDocument/2006/relationships" id="266" r:id="R2a4fc171b3444223"/>
    <p:sldId xmlns:r="http://schemas.openxmlformats.org/officeDocument/2006/relationships" id="267" r:id="Rfa019de043fa483d"/>
    <p:sldId xmlns:r="http://schemas.openxmlformats.org/officeDocument/2006/relationships" id="268" r:id="R373bcc7a7aaa46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3026c64bf64b0d" /><Relationship Type="http://schemas.openxmlformats.org/officeDocument/2006/relationships/slideMaster" Target="/ppt/slideMasters/slideMaster1.xml" Id="Rf9f06a311e2f4640" /><Relationship Type="http://schemas.openxmlformats.org/officeDocument/2006/relationships/notesMaster" Target="/ppt/notesMasters/notesMaster1.xml" Id="R4a7bf78920084666" /><Relationship Type="http://schemas.openxmlformats.org/officeDocument/2006/relationships/presProps" Target="/ppt/presProps.xml" Id="R8a8605f72bcf47c2" /><Relationship Type="http://schemas.openxmlformats.org/officeDocument/2006/relationships/tableStyles" Target="/ppt/tableStyles.xml" Id="Rc666e58ba9004122" /><Relationship Type="http://schemas.openxmlformats.org/officeDocument/2006/relationships/slide" Target="/ppt/slides/slide1.xml" Id="R2e3ada01785743dc" /><Relationship Type="http://schemas.openxmlformats.org/officeDocument/2006/relationships/slide" Target="/ppt/slides/slide2.xml" Id="R2dd9aa5a891e48c1" /><Relationship Type="http://schemas.openxmlformats.org/officeDocument/2006/relationships/slide" Target="/ppt/slides/slide3.xml" Id="R5e5629f47e074fc5" /><Relationship Type="http://schemas.openxmlformats.org/officeDocument/2006/relationships/slide" Target="/ppt/slides/slide4.xml" Id="R7e08da9281224dcc" /><Relationship Type="http://schemas.openxmlformats.org/officeDocument/2006/relationships/slide" Target="/ppt/slides/slide5.xml" Id="R400cdc0740494a19" /><Relationship Type="http://schemas.openxmlformats.org/officeDocument/2006/relationships/slide" Target="/ppt/slides/slide6.xml" Id="Raeff7473b0e340b7" /><Relationship Type="http://schemas.openxmlformats.org/officeDocument/2006/relationships/slide" Target="/ppt/slides/slide7.xml" Id="R775cb94d93c64d4f" /><Relationship Type="http://schemas.openxmlformats.org/officeDocument/2006/relationships/slide" Target="/ppt/slides/slide8.xml" Id="Rf6cfd2df082c47d5" /><Relationship Type="http://schemas.openxmlformats.org/officeDocument/2006/relationships/slide" Target="/ppt/slides/slide9.xml" Id="R6670bbe83fc1496d" /><Relationship Type="http://schemas.openxmlformats.org/officeDocument/2006/relationships/slide" Target="/ppt/slides/slide10.xml" Id="R1f7aaa6e02684322" /><Relationship Type="http://schemas.openxmlformats.org/officeDocument/2006/relationships/slide" Target="/ppt/slides/slide11.xml" Id="R2a4fc171b3444223" /><Relationship Type="http://schemas.openxmlformats.org/officeDocument/2006/relationships/slide" Target="/ppt/slides/slide12.xml" Id="Rfa019de043fa483d" /><Relationship Type="http://schemas.openxmlformats.org/officeDocument/2006/relationships/slide" Target="/ppt/slides/slide13.xml" Id="R373bcc7a7aaa46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d22300c5654e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532386bced47ec" /><Relationship Type="http://schemas.openxmlformats.org/officeDocument/2006/relationships/notesMaster" Target="/ppt/notesMasters/notesMaster1.xml" Id="Rfeec1f08775d41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cf8035acbd4591" /><Relationship Type="http://schemas.openxmlformats.org/officeDocument/2006/relationships/notesMaster" Target="/ppt/notesMasters/notesMaster1.xml" Id="Rb0e7b9f2a7104a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bcfb46145841ec" /><Relationship Type="http://schemas.openxmlformats.org/officeDocument/2006/relationships/notesMaster" Target="/ppt/notesMasters/notesMaster1.xml" Id="R89814eee99ce46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a57d2ca1724e75" /><Relationship Type="http://schemas.openxmlformats.org/officeDocument/2006/relationships/notesMaster" Target="/ppt/notesMasters/notesMaster1.xml" Id="Rb9441cec556b45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df2e419a514e3d" /><Relationship Type="http://schemas.openxmlformats.org/officeDocument/2006/relationships/notesMaster" Target="/ppt/notesMasters/notesMaster1.xml" Id="Rce258b501bcd45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f88aa3b6543e2" /><Relationship Type="http://schemas.openxmlformats.org/officeDocument/2006/relationships/notesMaster" Target="/ppt/notesMasters/notesMaster1.xml" Id="Rfe0ea01a38e644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c62a65004f40e5" /><Relationship Type="http://schemas.openxmlformats.org/officeDocument/2006/relationships/notesMaster" Target="/ppt/notesMasters/notesMaster1.xml" Id="R5578a175342a48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70a693635d44cd" /><Relationship Type="http://schemas.openxmlformats.org/officeDocument/2006/relationships/notesMaster" Target="/ppt/notesMasters/notesMaster1.xml" Id="Re37ad5599d664a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83b19d9582417f" /><Relationship Type="http://schemas.openxmlformats.org/officeDocument/2006/relationships/notesMaster" Target="/ppt/notesMasters/notesMaster1.xml" Id="Re6132dd748634e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6d45106e8142d2" /><Relationship Type="http://schemas.openxmlformats.org/officeDocument/2006/relationships/notesMaster" Target="/ppt/notesMasters/notesMaster1.xml" Id="R35b57e1ea16e45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bc22722f144e7c" /><Relationship Type="http://schemas.openxmlformats.org/officeDocument/2006/relationships/notesMaster" Target="/ppt/notesMasters/notesMaster1.xml" Id="Rb192d3f3c0394b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73350c9f9f4c16" /><Relationship Type="http://schemas.openxmlformats.org/officeDocument/2006/relationships/notesMaster" Target="/ppt/notesMasters/notesMaster1.xml" Id="Rd8a9005c471c4f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2f773f3abc463f" /><Relationship Type="http://schemas.openxmlformats.org/officeDocument/2006/relationships/notesMaster" Target="/ppt/notesMasters/notesMaster1.xml" Id="Re22df855e3024f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项目是八类野生动物检测，输入图片，输出动物类别、检测框与置信度。基于YOLOv8n开源框架，我们完成五项实验，研究尺寸和增强策略怎样影响准确性。核心模型来自上游，项目重点是实际运行、对照与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来源：README.md；CODE_ORIGIN.md</a:t>
            </a:r>
          </a:p>
          <a:p xmlns:a="http://schemas.openxmlformats.org/drawingml/2006/main">
            <a:r>
              <a:t>建议时间：20秒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是一次前向传播完成目标检测的框架。卷积主干学习图像特征，多尺度融合处理不同大小目标，检测头输出类别与位置，NMS减少高度重叠的预测。我们从COCO预训练权重微调，通过损失反向传播更新参数。课程联系包括CNN、迁移学习、梯度优化和泛化。预测框数量并不等于真实动物个体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来源：README.md；CODE_ORIGIN.md；本地Ultralytics配置与实现</a:t>
            </a:r>
          </a:p>
          <a:p xmlns:a="http://schemas.openxmlformats.org/drawingml/2006/main">
            <a:r>
              <a:t>建议时间：35秒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数据来自African Wildlife、COCO和Open Images，包含八类动物，固定为1753张训练、383张验证和360张测试。训练30轮，batch为8。验证集选权重与方案，测试集报告结果。主要指标mAP50到95综合类别和定位，不能称为分类准确率。数据是课程自定义划分，测试集以前已经查看，不是新的盲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ildlife8/experiment1_inference_sizes/20261006_162734_758962；wildlife8/experiment2_training_sizes/20261006_165841_934483；wildlife8/mosaic_experiments/20261006_180013_955548；wildlife8/robustness_rerun_20261006_210326_635336；wildlife8/experiment3_blur_ratios/20261007_104229_335871</a:t>
            </a:r>
          </a:p>
          <a:p xmlns:a="http://schemas.openxmlformats.org/drawingml/2006/main">
            <a:r>
              <a:t>建议时间：35秒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一固定同一个416模型，只改变推理输入。416测试的严格mAP是75.21%，640测试是57.66%，下降17.54个百分点。单张图变大后可能找回小目标，但完整360张测试图并没有因此整体改善。这里只能说明当前模型和数据的现象，不能说所有模型都不适合640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来源：wildlife8/experiment1_inference_sizes/20261006_162734_758962/comparison.json</a:t>
            </a:r>
          </a:p>
          <a:p xmlns:a="http://schemas.openxmlformats.org/drawingml/2006/main">
            <a:r>
              <a:t>建议时间：30秒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二分别从同一预训练权重训练416和640两个模型，再分别按对应尺寸测试。640召回率提高5.46个百分点，mAP50提高1.43，而严格mAP只提高0.05个百分点。这个变化很小，单种子不能证明稳定提升。这里用最新运行的75.25%，不是旧版报告的74.39%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来源：wildlife8/experiment2_training_sizes/20261006_165841_934483/comparison.json</a:t>
            </a:r>
          </a:p>
          <a:p xmlns:a="http://schemas.openxmlformats.org/drawingml/2006/main">
            <a:r>
              <a:t>建议时间：30秒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aic把多张图片拼合形成更丰富的目标尺度和背景。我们比较开启与关闭，严格mAP从73.61%到75.21%，提高1.60个百分点。但鹿下降2.90个百分点，不能只展示收益最大的类别。完整测试图的固定阈值错误统计中，51张变好，51张变差，258张错误数相同。固定阈值错误统计和官方AP不是一个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来源：wildlife8/mosaic_experiments/20261006_180013_955548/on/test_results.json；wildlife8/mosaic_experiments/20261006_180013_955548/off/test_results.json；comparison/diagnostics.json</a:t>
            </a:r>
          </a:p>
          <a:p xmlns:a="http://schemas.openxmlformats.org/drawingml/2006/main">
            <a:r>
              <a:t>建议时间：35秒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四用验证集先选择最弱的退化，本次选中模糊，再固定模糊一半训练图。总图片数量不变，两个种子配对比较。模糊测试平均提高6.82个百分点，但清晰下降1.55，JPEG下降1.35。变暗只提高0.07，两个种子方向相反。因此结论是针对性收益与代价，并不是对所有退化都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来源：wildlife8/robustness_rerun_20261006_210326_635336/transfer_summary.csv</a:t>
            </a:r>
          </a:p>
          <a:p xmlns:a="http://schemas.openxmlformats.org/drawingml/2006/main">
            <a:r>
              <a:t>建议时间：40秒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五修复随机状态流程后，完成0%、25%、50%三个比例、两个种子共六个模型。25%在测试集上保持了清晰性能，同时模糊提高6.69个百分点；50%模糊提高6.82，但清晰下降1.55。注意正式选择规则是在验证集上等权考虑清晰和模糊，选中的是50%。不能看过测试后改称25%最优；可以把25%的取舍作为下一轮研究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来源：wildlife8/experiment3_blur_ratios/20261007_104229_335871/comparison.csv；validation_selection.json；protocol.json</a:t>
            </a:r>
          </a:p>
          <a:p xmlns:a="http://schemas.openxmlformats.org/drawingml/2006/main">
            <a:r>
              <a:t>建议时间：45秒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按错误数选择的长颈鹿案例。标注和预测都是4个框，但只有1个满足同类IoU大于等于0.5，三个预测框和三个标注框未匹配。图中有遮挡和重叠，但我们不能仅凭这一例确认原因。完整测试集按固定阈值统计是509个匹配、127个未匹配预测、68个未匹配标注，和官方AP不是同一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来源：wildlife8/report_data.json；07_失败案例与演示备用/03_真实失败分析.md</a:t>
            </a:r>
          </a:p>
          <a:p xmlns:a="http://schemas.openxmlformats.org/drawingml/2006/main">
            <a:r>
              <a:t>建议时间：35秒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项实验表明，尺寸和增强都要在完整数据上检验。直接放大输入并不保证提升，Mosaic对各类影响不同，模糊增强既有收益也有代价。当前只有一到两个种子、人工退化和已看过的测试集，不做统计显著或真实野外泛化结论。后续应固定新保留集、增加种子并复核标注。模型、训练器和AP来自Ultralytics，数据来自公开集；配套脚本采用AI辅助，本项目贡献是运行、组织实验和结果分析。下面用四分钟演示已训练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来源：CODE_ORIGIN.md；五项实验原始记录；docs/实验四五随机状态审计.md</a:t>
            </a:r>
          </a:p>
          <a:p xmlns:a="http://schemas.openxmlformats.org/drawingml/2006/main">
            <a:r>
              <a:t>建议时间：55秒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到30秒展示原图和项目。30到120秒运行明确指定模型的预测。120到180秒打开预测图，解释类别、框、置信度与可能错误。180到240秒打开完整测试对照与失败案例，说明单图不是指标。异常时用预先保存的真实结果，明确说明是预先生成，不在课堂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来源：05_四分钟Demo操作.md</a:t>
            </a:r>
          </a:p>
          <a:p xmlns:a="http://schemas.openxmlformats.org/drawingml/2006/main">
            <a:r>
              <a:t>建议时间：4分钟；随后2分钟问答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回答是否对所有退化都有效时使用。25%在本测试集上清晰变化0.11、模糊6.69、变暗0.89、JPEG0.28个百分点，但不能据此改变预设验证选择。两种子数据不足以证明统计显著。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来源：wildlife8/experiment3_blur_ratios/20261007_104229_335871/comparison.csv</a:t>
            </a:r>
          </a:p>
          <a:p xmlns:a="http://schemas.openxmlformats.org/drawingml/2006/main">
            <a:r>
              <a:t>建议时间：问答备用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进程连续训练时，上游事件模块的首次初始化消耗Python随机数，导致同种子的增强序列不一致。新的每模型独立进程流程用于实验五完整重跑。旧实验五清晰提升结论不再使用。实验一至三保留历史实测值，但未在本次用修复流程重训，因此不能宣称所有五项均经过同样的严格随机轨迹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来源：docs/实验四五随机状态审计.md；wildlife8/experiment3_blur_ratios/20261007_104229_335871/protocol.json</a:t>
            </a:r>
          </a:p>
          <a:p xmlns:a="http://schemas.openxmlformats.org/drawingml/2006/main">
            <a:r>
              <a:t>建议时间：问答备用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0bff9e64b4e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e0edeae7ef45d5" /><Relationship Type="http://schemas.openxmlformats.org/officeDocument/2006/relationships/slideLayout" Target="/ppt/slideLayouts/slideLayout1.xml" Id="R47ee26cbb7db4f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ee26cbb7db4f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b049a27df4c87" /><Relationship Type="http://schemas.openxmlformats.org/officeDocument/2006/relationships/notesSlide" Target="/ppt/notesSlides/notesSlide1.xml" Id="R8ccd718d7b0149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6a42e5bf0465e" /><Relationship Type="http://schemas.openxmlformats.org/officeDocument/2006/relationships/notesSlide" Target="/ppt/notesSlides/notesSlide2.xml" Id="R457b9758e75d4a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35b88feb84207" /><Relationship Type="http://schemas.openxmlformats.org/officeDocument/2006/relationships/notesSlide" Target="/ppt/notesSlides/notesSlide3.xml" Id="R9a8daf53f6624a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4df03add14ed2" /><Relationship Type="http://schemas.openxmlformats.org/officeDocument/2006/relationships/chart" Target="/ppt/slides/charts/chart1.xml" Id="R34f304a4d00748ed" /><Relationship Type="http://schemas.openxmlformats.org/officeDocument/2006/relationships/notesSlide" Target="/ppt/notesSlides/notesSlide4.xml" Id="Rf0921615537342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1c1cde72e4bc7" /><Relationship Type="http://schemas.openxmlformats.org/officeDocument/2006/relationships/notesSlide" Target="/ppt/notesSlides/notesSlide5.xml" Id="R14ee1a3104af46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ebb2e911d443c" /><Relationship Type="http://schemas.openxmlformats.org/officeDocument/2006/relationships/notesSlide" Target="/ppt/notesSlides/notesSlide6.xml" Id="R4def134d3c2040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e4f5394c84e49" /><Relationship Type="http://schemas.openxmlformats.org/officeDocument/2006/relationships/notesSlide" Target="/ppt/notesSlides/notesSlide7.xml" Id="R468926a26e8f44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768cd02cb4dde" /><Relationship Type="http://schemas.openxmlformats.org/officeDocument/2006/relationships/notesSlide" Target="/ppt/notesSlides/notesSlide8.xml" Id="R106c41beb23f48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c0b5680614c37" /><Relationship Type="http://schemas.openxmlformats.org/officeDocument/2006/relationships/image" Target="/ppt/media/image.jpeg" Id="Rce032e6c87fc4fcc" /><Relationship Type="http://schemas.openxmlformats.org/officeDocument/2006/relationships/image" Target="/ppt/media/image2.jpeg" Id="R7be2ffa2f9e54428" /><Relationship Type="http://schemas.openxmlformats.org/officeDocument/2006/relationships/notesSlide" Target="/ppt/notesSlides/notesSlide9.xml" Id="R533178ba7e9241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06886148d4128" /><Relationship Type="http://schemas.openxmlformats.org/officeDocument/2006/relationships/notesSlide" Target="/ppt/notesSlides/notesSlide10.xml" Id="Rbeb69264e8794b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674673f784485" /><Relationship Type="http://schemas.openxmlformats.org/officeDocument/2006/relationships/notesSlide" Target="/ppt/notesSlides/notesSlide11.xml" Id="Re3ff2f21306145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40f9af05840a6" /><Relationship Type="http://schemas.openxmlformats.org/officeDocument/2006/relationships/notesSlide" Target="/ppt/notesSlides/notesSlide12.xml" Id="Rede49caed86544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6ccbac6124be8" /><Relationship Type="http://schemas.openxmlformats.org/officeDocument/2006/relationships/notesSlide" Target="/ppt/notesSlides/notesSlide13.xml" Id="R9b8e4a07e9e043a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测试mAP50–95</c:v>
          </c:tx>
          <c:spPr>
            <a:solidFill xmlns:a="http://schemas.openxmlformats.org/drawingml/2006/main">
              <a:srgbClr val="28775E"/>
            </a:solidFill>
          </c:spPr>
          <c:cat>
            <c:strRef>
              <c:f>'Chart Data'!$A$2:$A$3</c:f>
              <c:strCache>
                <c:ptCount val="2"/>
                <c:pt idx="0">
                  <c:v>416 推理</c:v>
                </c:pt>
                <c:pt idx="1">
                  <c:v>640 推理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75.21</c:v>
                </c:pt>
                <c:pt idx="1">
                  <c:v>57.66</c:v>
                </c:pt>
              </c:numCache>
            </c:numRef>
          </c:val>
        </c:ser>
        <c:dLbls>
          <c:numFmt formatCode="0.0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8FAF8"/>
        </a:solidFill>
      </c:spPr>
    </c:plotArea>
    <c:plotVisOnly val="1"/>
  </c:chart>
  <c:spPr>
    <a:solidFill xmlns:a="http://schemas.openxmlformats.org/drawingml/2006/main">
      <a:srgbClr val="F8FAF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B13EC-FDFB-418D-A6A1-023B7209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八类野生动物检测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E9189-79D1-49C7-BC2B-56B1C5F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C03F6-AD1B-41C3-947C-37FE2E47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YOLOv8n 开源复现与五项实验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17599-9C58-4A41-8E23-B4CCCF8E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推理尺寸  ·  训练尺寸  ·  Mosaic</a:t>
            </a:r>
          </a:p>
          <a:p xmlns:a="http://schemas.openxmlformats.org/drawingml/2006/main">
            <a:pPr>
              <a:defRPr sz="26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退化迁移  ·  模糊增强比例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3A85F-3B04-43E8-B7F7-615CF54B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https://github.com/fk1119/wildlife-yolov8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B4CE2-635E-4CD5-8E9D-93C09E3F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2026年10月7日实验结果整理</a:t>
            </a:r>
          </a:p>
        </p:txBody>
      </p:sp>
    </p:spTree>
    <p:extLst>
      <p:ext uri="{BB962C8B-B14F-4D97-AF65-F5344CB8AC3E}">
        <p14:creationId xmlns:p14="http://schemas.microsoft.com/office/powerpoint/2010/main" val="161278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5D362-E82C-42BF-A913-4D98C05B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模型原理与课程联系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581D0-142C-4BFF-95B6-ADB553C7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524750"/>
              </a:tblGrid>
              <a:tr h="6953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本项目中的作用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卷积主干与多尺度融合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学习纹理和语义，兼顾不同大小目标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检测头与后处理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输出类别和框；置信度过滤与NMS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预训练与微调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复用COCO特征，在八类图片上更新参数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课程知识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CNN、梯度优化、迁移学习、数据增强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488C5-3773-458D-A7D3-851B9491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价值：辅助动物图片筛查和标注；仍需人工复核</a:t>
            </a:r>
          </a:p>
        </p:txBody>
      </p:sp>
    </p:spTree>
    <p:extLst>
      <p:ext uri="{BB962C8B-B14F-4D97-AF65-F5344CB8AC3E}">
        <p14:creationId xmlns:p14="http://schemas.microsoft.com/office/powerpoint/2010/main" val="242651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ED36D-A39B-4564-9E59-200BAF47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数据与评估协议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8E6B9-79D3-4E26-BC27-B79DF7CD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6000750"/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划分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图片数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1753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学习参数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383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选择best.pt与增强方案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固定清单报告指标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8C08D-29D0-4CD4-B174-B1349680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30轮  ·  batch 8  ·  AdamW  ·  COCO预训练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11DAC-9CA9-4C3A-B5F7-9E0E6C0E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主指标 mAP50–95：类别要正确，位置也要准确</a:t>
            </a:r>
          </a:p>
          <a:p xmlns:a="http://schemas.openxmlformats.org/drawingml/2006/main">
            <a:pPr>
              <a:defRPr sz="20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尺寸/Mosaic一个种子；退化/比例两个种子</a:t>
            </a:r>
          </a:p>
        </p:txBody>
      </p:sp>
    </p:spTree>
    <p:extLst>
      <p:ext uri="{BB962C8B-B14F-4D97-AF65-F5344CB8AC3E}">
        <p14:creationId xmlns:p14="http://schemas.microsoft.com/office/powerpoint/2010/main" val="29251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484E9-EC1B-452C-85E8-0B15A796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实验一 同一模型改变推理尺寸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D37B7-FA05-4A82-BCE9-2E938DE6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10572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f304a4d00748e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0410C-09EB-4D62-8624-F18BE798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B469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46935"/>
                </a:solidFill>
                <a:latin typeface="Microsoft YaHei"/>
                <a:ea typeface="Microsoft YaHei"/>
                <a:cs typeface="Microsoft YaHei"/>
              </a:rPr>
              <a:t>75.21% → 57.66%   下降17.54个百分点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F89F9-3F56-4D6D-A386-2AECBA7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固定权重，仅改变测试尺寸；单图改善不代表整体改善</a:t>
            </a:r>
          </a:p>
        </p:txBody>
      </p:sp>
    </p:spTree>
    <p:extLst>
      <p:ext uri="{BB962C8B-B14F-4D97-AF65-F5344CB8AC3E}">
        <p14:creationId xmlns:p14="http://schemas.microsoft.com/office/powerpoint/2010/main" val="1430295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9ABC7-8CDE-49D2-B441-883BB9BE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实验二 匹配训练与测试尺寸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07C66-1486-4F3B-8ABA-31F96392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00250"/>
                <a:gridCol w="2000250"/>
                <a:gridCol w="2000250"/>
                <a:gridCol w="2000250"/>
              </a:tblGrid>
              <a:tr h="746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/ 测试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Precision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mAP50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mAP50–95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416 / 416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91.02%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82.09%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91.21%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75.21%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 / 640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90.89%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87.55%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92.64%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75.25%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E86D7-EDFA-4B47-B297-550622DF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Recall +5.46 pp；严格mAP +0.05 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9230C-7743-4D09-81C6-EC035860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训练和测试配置同时变化，不能归因于推理尺寸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F9EBB-A33F-408B-BC3B-6F116D4D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单种子结果；差值按未舍入原值计算</a:t>
            </a:r>
          </a:p>
        </p:txBody>
      </p:sp>
    </p:spTree>
    <p:extLst>
      <p:ext uri="{BB962C8B-B14F-4D97-AF65-F5344CB8AC3E}">
        <p14:creationId xmlns:p14="http://schemas.microsoft.com/office/powerpoint/2010/main" val="141629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323F6-158E-435D-9E0E-D8133984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实验三 Mosaic的收益有类别差异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DB4AD-2F0B-4577-BBF7-62E532F4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1049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857500"/>
                <a:gridCol w="4857750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mAP50–95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实验条件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Mosaic 关闭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73.61%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416 / seed42 / 30轮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Mosaic 开启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75.21%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416 / seed42 / 30轮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D8DF4-A9E0-4F1E-9B04-B0B7853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总体 +1.60 pp；鹿这一类 −2.90 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13609-A1B9-4473-A794-25443036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逐图错误数：改善51张、变差51张、相同258张</a:t>
            </a:r>
          </a:p>
          <a:p xmlns:a="http://schemas.openxmlformats.org/drawingml/2006/main">
            <a:pPr>
              <a:defRPr sz="2100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conf≥0.25，同类IoU≥0.5；不等同官方AP</a:t>
            </a:r>
          </a:p>
        </p:txBody>
      </p:sp>
    </p:spTree>
    <p:extLst>
      <p:ext uri="{BB962C8B-B14F-4D97-AF65-F5344CB8AC3E}">
        <p14:creationId xmlns:p14="http://schemas.microsoft.com/office/powerpoint/2010/main" val="720781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D297C-9FD4-4AF1-80AA-63DDD5B2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实验四 模糊增强的迁移与代价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F03A7-50DE-433F-A400-A067A6B6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667000"/>
                <a:gridCol w="3048000"/>
                <a:gridCol w="247650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测试条件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原基线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50%模糊训练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 pp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75.11%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73.55%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-1.55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模糊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64.80%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71.62%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6.82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变暗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69.71%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69.78%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JPEG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68.48%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67.12%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-1.35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9F4D2-D2F5-4B29-A49C-A8AB8AB4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退化先平均三个强度，再平均两个种子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64CD8-8FD2-4FED-B1C6-DF6226CB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变暗两种子方向相反；人工退化不能代替真实环境</a:t>
            </a:r>
          </a:p>
        </p:txBody>
      </p:sp>
    </p:spTree>
    <p:extLst>
      <p:ext uri="{BB962C8B-B14F-4D97-AF65-F5344CB8AC3E}">
        <p14:creationId xmlns:p14="http://schemas.microsoft.com/office/powerpoint/2010/main" val="12653188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277D0-002D-4BE4-A18B-43CC2D06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实验五 模糊比例与选择规则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984A1-8026-454A-B7B1-35DF7544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10490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2857500"/>
                <a:gridCol w="2857500"/>
              </a:tblGrid>
              <a:tr h="7024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清晰测试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模糊测试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验证选择分数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75.11%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64.80%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70.37%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75.22%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71.49%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73.13%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73.55%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71.62%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73.48%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73FA1-118A-41D0-8723-617A48F4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预设验证规则选中50%；25%提供另一种取舍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A3BB3-0C15-47BA-97B6-1B1CBBE7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使用修复后的六模型完整结果；测试集不用于重新选比例</a:t>
            </a:r>
          </a:p>
          <a:p xmlns:a="http://schemas.openxmlformats.org/drawingml/2006/main">
            <a:pPr>
              <a:defRPr sz="18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0%与50%和实验四有关联，不算新的独立重复</a:t>
            </a:r>
          </a:p>
        </p:txBody>
      </p:sp>
    </p:spTree>
    <p:extLst>
      <p:ext uri="{BB962C8B-B14F-4D97-AF65-F5344CB8AC3E}">
        <p14:creationId xmlns:p14="http://schemas.microsoft.com/office/powerpoint/2010/main" val="1932067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136E8-5F9B-4667-9812-700E7024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失败案例 数量一致仍可能定位错误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3AB95-A527-4E5A-A636-4630621C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A1437-22C9-4311-9C1E-E175CFDE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原始标注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2E138-A59F-4CEE-A248-29FFF86B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85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模型预测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32e6c87fc4fcc"/>
          <a:stretch xmlns:a="http://schemas.openxmlformats.org/drawingml/2006/main"/>
        </p:blipFill>
        <p:spPr>
          <a:xfrm xmlns:a="http://schemas.openxmlformats.org/drawingml/2006/main">
            <a:off x="2286953" y="1809750"/>
            <a:ext cx="1903095" cy="2857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2ffa2f9e54428"/>
          <a:stretch xmlns:a="http://schemas.openxmlformats.org/drawingml/2006/main"/>
        </p:blipFill>
        <p:spPr>
          <a:xfrm xmlns:a="http://schemas.openxmlformats.org/drawingml/2006/main">
            <a:off x="8001953" y="1809750"/>
            <a:ext cx="1903095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86859-5AF3-4821-9694-F1EF62AF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469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46935"/>
                </a:solidFill>
                <a:latin typeface="Microsoft YaHei"/>
                <a:ea typeface="Microsoft YaHei"/>
                <a:cs typeface="Microsoft YaHei"/>
              </a:rPr>
              <a:t>4个标注框、4个预测框，只有1个匹配成功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01A36-DF86-4BC0-AF51-83CFDC8C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conf≥0.25，同类IoU≥0.5；案例按错误数选择</a:t>
            </a:r>
          </a:p>
        </p:txBody>
      </p:sp>
    </p:spTree>
    <p:extLst>
      <p:ext uri="{BB962C8B-B14F-4D97-AF65-F5344CB8AC3E}">
        <p14:creationId xmlns:p14="http://schemas.microsoft.com/office/powerpoint/2010/main" val="1985096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DE795-9E70-48CD-A322-79CD8410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结论与使用边界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6ECF2-75A3-4D07-8785-EE6C2ED6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6E758-38B9-4978-886A-822198FA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尺寸与增强必须结合任务验证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D5E6-CCAE-4047-8023-0416D72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单图改善 ≠ 完整测试集改善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针对模糊的收益伴随清晰与压缩图的代价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下一步：新保留集、更多种子、人工标注复核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E357B-AA27-4856-A76E-C357C58D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Ultralytics核心模型；公开数据；AI辅助配套脚本</a:t>
            </a:r>
          </a:p>
          <a:p xmlns:a="http://schemas.openxmlformats.org/drawingml/2006/main">
            <a:pPr>
              <a:defRPr sz="195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开源复现与实验分析，未提出新网络结构</a:t>
            </a:r>
          </a:p>
        </p:txBody>
      </p:sp>
    </p:spTree>
    <p:extLst>
      <p:ext uri="{BB962C8B-B14F-4D97-AF65-F5344CB8AC3E}">
        <p14:creationId xmlns:p14="http://schemas.microsoft.com/office/powerpoint/2010/main" val="5405922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8940A-90AC-4FD9-B22F-53ADE0B6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四分钟现场演示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158D3-339A-46BE-B3CD-1E2BA02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86750"/>
              </a:tblGrid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演示动作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0:00–0:30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打开原图，说明输入、八类标签和权重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0:30–2:00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运行416模型推理，展示终端输出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2:00–3:00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打开带框图片，解释类别、位置与置信度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3:00–4:00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打开指标表与失败样例，说明整体与局部区别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770CB-2528-476E-A834-CD6D859D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备用：已保存预测图片及Mosaic逐图HTML</a:t>
            </a:r>
          </a:p>
        </p:txBody>
      </p:sp>
    </p:spTree>
    <p:extLst>
      <p:ext uri="{BB962C8B-B14F-4D97-AF65-F5344CB8AC3E}">
        <p14:creationId xmlns:p14="http://schemas.microsoft.com/office/powerpoint/2010/main" val="1554284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CB207-8090-425B-B377-542B182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附录 三种模糊比例的完整结果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C9EF7-DDBE-4E97-9E3D-BF93A296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238375"/>
                <a:gridCol w="2238375"/>
                <a:gridCol w="2238375"/>
                <a:gridCol w="2238375"/>
              </a:tblGrid>
              <a:tr h="7024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模糊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变暗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JPEG</a:t>
                      </a:r>
                    </a:p>
                  </a:txBody>
                  <a:tcPr marL="133350" marR="114300" marT="95250" marB="95250">
                    <a:solidFill>
                      <a:srgbClr val="163B35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75.11%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64.80%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69.71%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68.48%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75.22%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71.49%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70.60%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68.75%</a:t>
                      </a:r>
                    </a:p>
                  </a:txBody>
                  <a:tcPr marL="133350" marR="114300" marT="95250" marB="95250">
                    <a:solidFill>
                      <a:srgbClr val="ECF2E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73.55%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71.62%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69.78%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67.12%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A1C20-5997-4546-8C21-725354C5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人工退化；先平均强度再平均种子；原测试集已查看</a:t>
            </a:r>
          </a:p>
        </p:txBody>
      </p:sp>
    </p:spTree>
    <p:extLst>
      <p:ext uri="{BB962C8B-B14F-4D97-AF65-F5344CB8AC3E}">
        <p14:creationId xmlns:p14="http://schemas.microsoft.com/office/powerpoint/2010/main" val="2033199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2050E-BC9F-4765-8898-F36AFD9A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附录 随机状态与历史结果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8FA2E-DCCC-4EF8-961B-4E4985AA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5E7D4-01D8-4F23-AD48-F861455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问题：首次模块初始化改变随机增强序列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1A0D3-114A-49D3-9B43-7C0A9FF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775E"/>
                </a:solidFill>
                <a:latin typeface="Microsoft YaHei"/>
                <a:ea typeface="Microsoft YaHei"/>
                <a:cs typeface="Microsoft YaHei"/>
              </a:rPr>
              <a:t>修复：每个模型使用独立解释器进程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E3343-CA4F-4E15-AA1D-F116F8EA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104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实验五：六模型 × 30轮，使用修复后的完整结果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B35"/>
                </a:solidFill>
                <a:latin typeface="Microsoft YaHei"/>
                <a:ea typeface="Microsoft YaHei"/>
                <a:cs typeface="Microsoft YaHei"/>
              </a:rPr>
              <a:t>实验一至三：报告历史实测值，未在本次重新训练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846C4-790F-471A-9EF1-0280689D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76963"/>
                </a:solidFill>
                <a:latin typeface="Microsoft YaHei"/>
                <a:ea typeface="Microsoft YaHei"/>
                <a:cs typeface="Microsoft YaHei"/>
              </a:rPr>
              <a:t>原始记录保留；不通过修改旧指标来“修正”实验</a:t>
            </a:r>
          </a:p>
        </p:txBody>
      </p:sp>
    </p:spTree>
    <p:extLst>
      <p:ext uri="{BB962C8B-B14F-4D97-AF65-F5344CB8AC3E}">
        <p14:creationId xmlns:p14="http://schemas.microsoft.com/office/powerpoint/2010/main" val="1129561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2026-10-07T07:02:07.7460000Z</dcterms:created>
  <dcterms:modified xsi:type="dcterms:W3CDTF">2026-10-07T07:02:07.7460000Z</dcterms:modified>
</coreProperties>
</file>